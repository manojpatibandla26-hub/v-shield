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08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3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veltec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502920"/>
            <a:ext cx="2468880" cy="10580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943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🛡️  PROJECT AI SENTINEL |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Network Intrusion</a:t>
            </a:r>
          </a:p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Detection System</a:t>
            </a:r>
          </a:p>
          <a:p>
            <a:pPr>
              <a:spcBef>
                <a:spcPts val="400"/>
              </a:spcBef>
              <a:defRPr sz="28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using Machine Learning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rPr dirty="0"/>
              <a:t>AI-Powered Network Security &amp; Real-Time Threat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71655" y="1828800"/>
            <a:ext cx="356616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Segoe UI"/>
              </a:defRPr>
            </a:pPr>
            <a:r>
              <a:t>NETWORK TOPOLOGY &amp; THREAT INTERCEPTION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2880360"/>
            <a:ext cx="18288" cy="10058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0" y="2651760"/>
            <a:ext cx="914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0" y="2331720"/>
            <a:ext cx="1417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Internet / Cloud</a:t>
            </a:r>
          </a:p>
          <a:p>
            <a:pPr>
              <a:defRPr sz="750">
                <a:solidFill>
                  <a:srgbClr val="2563EB"/>
                </a:solidFill>
                <a:latin typeface="Segoe UI"/>
              </a:defRPr>
            </a:pPr>
            <a:r>
              <a:rPr dirty="0"/>
              <a:t>🌐 Inbound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3154680"/>
            <a:ext cx="1417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AI Sentinel Core</a:t>
            </a:r>
          </a:p>
          <a:p>
            <a:pPr>
              <a:defRPr sz="750">
                <a:solidFill>
                  <a:srgbClr val="0D9488"/>
                </a:solidFill>
                <a:latin typeface="Segoe UI"/>
              </a:defRPr>
            </a:pPr>
            <a:r>
              <a:rPr dirty="0"/>
              <a:t>🛡️ ML 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886200"/>
            <a:ext cx="1417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Server Cluster</a:t>
            </a:r>
          </a:p>
          <a:p>
            <a:pPr>
              <a:defRPr sz="750">
                <a:solidFill>
                  <a:srgbClr val="059669"/>
                </a:solidFill>
                <a:latin typeface="Segoe UI"/>
              </a:defRPr>
            </a:pPr>
            <a:r>
              <a:rPr dirty="0"/>
              <a:t>🟢 Protected 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331720"/>
            <a:ext cx="1417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Threat Anomaly</a:t>
            </a:r>
          </a:p>
          <a:p>
            <a:pPr>
              <a:defRPr sz="750">
                <a:solidFill>
                  <a:srgbClr val="DC2626"/>
                </a:solidFill>
                <a:latin typeface="Segoe UI"/>
              </a:defRPr>
            </a:pPr>
            <a:r>
              <a:rPr dirty="0"/>
              <a:t>🔴 SYN Flood (Blocked)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201168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34155"/>
                </a:solidFill>
                <a:latin typeface="Segoe UI"/>
              </a:defRPr>
            </a:pPr>
            <a:r>
              <a:rPr dirty="0"/>
              <a:t>⚡ Real-Time Packet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977639"/>
            <a:ext cx="201168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34155"/>
                </a:solidFill>
                <a:latin typeface="Segoe UI"/>
              </a:defRPr>
            </a:pPr>
            <a:r>
              <a:rPr dirty="0"/>
              <a:t>🧠 Random Forest Classifier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19"/>
            <a:ext cx="201168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🎯 Dynamic Risk Scoring (0-100)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4389119"/>
            <a:ext cx="201168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34155"/>
                </a:solidFill>
                <a:latin typeface="Segoe UI"/>
              </a:defRPr>
            </a:pPr>
            <a:r>
              <a:t>🔍 Explainable AI Insights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10728655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PROJECT TEAM 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4924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Kushal Vinayak Maddi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lang="en-US" dirty="0"/>
              <a:t>VTU</a:t>
            </a:r>
            <a:r>
              <a:rPr dirty="0"/>
              <a:t> No: VTU27566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34924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Patibandla Manoj Kumar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lang="en-US" dirty="0"/>
              <a:t>VTU</a:t>
            </a:r>
            <a:r>
              <a:rPr dirty="0"/>
              <a:t> No: VTU27626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34924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Shaik Aman Sohail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lang="en-US" dirty="0"/>
              <a:t>VTU</a:t>
            </a:r>
            <a:r>
              <a:rPr dirty="0"/>
              <a:t> No: VTU27551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DC2626"/>
                </a:solidFill>
                <a:latin typeface="Segoe UI"/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Traditional Network Security Fails Modern Infrastructure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Rigid rule-based systems cannot adapt to polymorphic attacks and high-velocity traffic.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846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“Traditional signature defenses are blind to emerging zero-day vulnerabilities and multi-vector attack chains.”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Modern networks generate millions of packet transactions per second across hybrid cloud and IoT endpoints. Legacy intrusion detection mechanisms face critical operational failure modes: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🚨 Surging Threat Sophistication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Attackers deploy automated reconnaissance, multi-source DDoS, and distributed credential stuffing.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⚠️ Crippling Alert Fatigue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Security Operations Centers (SOCs) are bombarded by thousands of unranked, false-positive alerts daily.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⏳ High Dwell Time &amp; Cost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Manual packet inspection takes hours to days, leading to extended breach dwell times and data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5068" y="1783080"/>
            <a:ext cx="565373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0766" y="1865530"/>
            <a:ext cx="3916457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DC2626"/>
                </a:solidFill>
                <a:latin typeface="Segoe UI"/>
              </a:defRPr>
            </a:pPr>
            <a:r>
              <a:rPr lang="en-US" dirty="0"/>
              <a:t>   </a:t>
            </a:r>
            <a:r>
              <a:rPr dirty="0"/>
              <a:t>TECHNICAL BREAKDOWN: LEGACY LIMITATIONS VS ATTACK EVASION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088668"/>
            <a:ext cx="5285232" cy="1920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rPr dirty="0"/>
              <a:t>❌  Legacy Signature-Based NIDS (Static Matching)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rPr dirty="0"/>
              <a:t>• Rigid pattern matching against static hash signatures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rPr dirty="0"/>
              <a:t>• Completely blind to modified payloads or zero-day exploits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rPr dirty="0"/>
              <a:t>• Treats all alerts with uniform priority — severe analyst burnout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rPr dirty="0"/>
              <a:t>• High administrative overhead for manual rule patching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820" y="4142545"/>
            <a:ext cx="5285232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⚡  Active Attack Vectors Requiring Behavioral ML</a:t>
            </a:r>
          </a:p>
          <a:p>
            <a:pPr>
              <a:spcBef>
                <a:spcPts val="200"/>
              </a:spcBef>
              <a:defRPr sz="880">
                <a:solidFill>
                  <a:srgbClr val="64748B"/>
                </a:solidFill>
                <a:latin typeface="Segoe UI"/>
              </a:defRPr>
            </a:pPr>
            <a:r>
              <a:t>• Denial of Service (DoS/DDoS): SYN flood volume spikes exhausting buffers</a:t>
            </a:r>
          </a:p>
          <a:p>
            <a:pPr>
              <a:spcBef>
                <a:spcPts val="200"/>
              </a:spcBef>
              <a:defRPr sz="880">
                <a:solidFill>
                  <a:srgbClr val="64748B"/>
                </a:solidFill>
                <a:latin typeface="Segoe UI"/>
              </a:defRPr>
            </a:pPr>
            <a:r>
              <a:t>• Stealth Port Scanning: Low-and-slow reconnaissance evading simple thresholds</a:t>
            </a:r>
          </a:p>
          <a:p>
            <a:pPr>
              <a:spcBef>
                <a:spcPts val="200"/>
              </a:spcBef>
              <a:defRPr sz="880">
                <a:solidFill>
                  <a:srgbClr val="64748B"/>
                </a:solidFill>
                <a:latin typeface="Segoe UI"/>
              </a:defRPr>
            </a:pPr>
            <a:r>
              <a:t>• Brute-Force Authentication: Distributed credential stuffing across rotating IPs</a:t>
            </a:r>
          </a:p>
          <a:p>
            <a:pPr>
              <a:spcBef>
                <a:spcPts val="200"/>
              </a:spcBef>
              <a:defRPr sz="880">
                <a:solidFill>
                  <a:srgbClr val="64748B"/>
                </a:solidFill>
                <a:latin typeface="Segoe UI"/>
              </a:defRPr>
            </a:pPr>
            <a:r>
              <a:t>• Solution Requirement: Statistical flow feature analysis &amp; real-time risk scoring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6" grpId="0" animBg="1"/>
      <p:bldP spid="7" grpId="0" animBg="1"/>
      <p:bldP spid="8" grpId="0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0D9488"/>
                </a:solidFill>
                <a:latin typeface="Segoe UI"/>
              </a:defRPr>
            </a:pPr>
            <a:r>
              <a:t>02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 Sentinel: Adaptive Machine Learning Network Defense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Combining supervised ensemble classification with dynamic risk scoring and explainable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874519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1. Ingestion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Raw Network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19" y="2148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1920240"/>
            <a:ext cx="1874519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2. Extraction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Traffic Flow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8" y="2148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8" y="1920240"/>
            <a:ext cx="1874519" cy="74980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3. AI Core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Random Forest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7" y="2148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17" y="1920240"/>
            <a:ext cx="1874519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4. Risk Scoring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0–100 Dynamic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36" y="2148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56" y="1920240"/>
            <a:ext cx="1874519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5. SecOps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Actionable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34015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🧠  Multi-Layer ML Detection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Supervised Random Forest classifies known attack vectors with high precision, while behavioral anomaly algorithms detect zero-day deviations.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Analyzes flow duration &amp; packet rates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Monitors connection frequency spikes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High precision on non-linear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017520"/>
            <a:ext cx="2944368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3017520"/>
            <a:ext cx="34015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🎯  Dynamic Risk Scoring (0–100)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Proprietary multi-factor scoring replaces binary alerts with intelligent risk triage (Low, Medium, High, Critical).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Synthesizes confidence &amp; abnormality delta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Weights connection frequency &amp; impact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Eliminates flat alert fatigue in SOCs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017520"/>
            <a:ext cx="2944368" cy="3657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0" y="3017520"/>
            <a:ext cx="34015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💡  Explainable SecOps &amp; Playbooks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Translates raw classifications into human-readable root-cause explanations and provides clear mitigation steps.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Explains why an alert was triggered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Correlates multi-stage attack chains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✔ Recommends automated IP isolation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017520"/>
            <a:ext cx="2944368" cy="3657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2563EB"/>
                </a:solidFill>
                <a:latin typeface="Segoe UI"/>
              </a:defRPr>
            </a:pPr>
            <a:r>
              <a:t>03 /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End-to-End System Architecture &amp; Data Flow Pipeline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Modular data ingestion, feature preprocessing, AI classification, and SOC 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01. INGESTION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Traffic Capture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rPr dirty="0"/>
              <a:t>• Live PCAP Stream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rPr dirty="0"/>
              <a:t>• NetFlow Telemetry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rPr dirty="0"/>
              <a:t>• IP/Port Dissection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783080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850" b="1">
                <a:solidFill>
                  <a:srgbClr val="0D9488"/>
                </a:solidFill>
                <a:latin typeface="Segoe UI"/>
              </a:defRPr>
            </a:pPr>
            <a:r>
              <a:rPr dirty="0"/>
              <a:t>02. EXTRACTION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Flow Extraction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rPr dirty="0"/>
              <a:t>• Flow Duration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rPr dirty="0"/>
              <a:t>• Packet &amp; Byte Rates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rPr dirty="0"/>
              <a:t>• Connection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83080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03. PREPROCESS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Data Preparation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StandardScaler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Categorical Encoding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Outlier Cleansing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83080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850" b="1">
                <a:solidFill>
                  <a:srgbClr val="7C3AED"/>
                </a:solidFill>
                <a:latin typeface="Segoe UI"/>
              </a:defRPr>
            </a:pPr>
            <a:r>
              <a:t>04. ML INFERENCE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Dual AI Engine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Random Forest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Anomaly Scoring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Multi-Class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83080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05. SEC-OPS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Risk &amp; Dispatch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0–100 Risk Score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XAI Root Causes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• Webhook / SOC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CLASSIFICATION OUTCOME &amp; TELEMETRY ROUTING PATHWAYS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5212080" cy="1737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🟢  NORMAL TRAFFIC (BENIGN FLOW)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• Standard web browsing, authorized API requests, database syncs.</a:t>
            </a:r>
            <a:br/>
            <a:r>
              <a:t>• Whitelisted for continuous flow • Statistical baseline models updated.</a:t>
            </a:r>
            <a:br/>
            <a:r>
              <a:t>• Zero latency impact • Logged safely for audit &amp; 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4572000"/>
            <a:ext cx="5212080" cy="1737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tlCol="0" anchor="ctr"/>
          <a:lstStyle/>
          <a:p>
            <a:pPr algn="ctr">
              <a:defRPr sz="1150" b="1">
                <a:solidFill>
                  <a:srgbClr val="DC2626"/>
                </a:solidFill>
                <a:latin typeface="Segoe UI"/>
              </a:defRPr>
            </a:pPr>
            <a:r>
              <a:t>🔴  MALICIOUS INTRUSION (THREAT INTERCEPTED)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• DDoS floods, port scans, credential stuffing &amp; brute force exploits.</a:t>
            </a:r>
            <a:br/>
            <a:r>
              <a:t>• Evaluated via Dynamic Risk Scoring Engine (0–100 score assigned).</a:t>
            </a:r>
            <a:br/>
            <a:r>
              <a:t>• Plain-text XAI root causes generated • Immediate SOC alert dispatched.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2563EB"/>
                </a:solidFill>
                <a:latin typeface="Segoe UI"/>
              </a:defRPr>
            </a:pPr>
            <a:r>
              <a:t>04 / MACHINE LEARNING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Random Forest Classification &amp; Feature Engineering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High-dimensional flow feature extraction trained on benchmark network intrusion datasets.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50" b="1">
                <a:solidFill>
                  <a:srgbClr val="2563EB"/>
                </a:solidFill>
                <a:latin typeface="Segoe UI"/>
              </a:defRPr>
            </a:pPr>
            <a:r>
              <a:t>📊  The 6 Core Network-Flow Features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[01] Flow Duration: Microsecond-precision duration of active connection sessions.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[02] Packet Count: Total forward and backward packet counts across the flow.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[03] Packet Size: Statistical payload variance, mean length, and size distribution.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[04] Protocol &amp; Flags: TCP/UDP/ICMP protocol flags (SYN, FIN, RST, ACK, PSH).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[05] Bytes Transferred: Total data transferred, byte rate, and payload volume.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[06] Packet Rate: Packets per second (spike rate analysis for flood detection).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33369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50" b="1">
                <a:solidFill>
                  <a:srgbClr val="2563EB"/>
                </a:solidFill>
                <a:latin typeface="Segoe UI"/>
              </a:defRPr>
            </a:pPr>
            <a:r>
              <a:t>🧠  Classifier Architecture &amp; Attack Taxonomy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Algorithm: Random Forest Ensemble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Combines multiple decorrelated decision trees aggregating votes; immune to overfitting on high-dimensional traffic data with superior non-linear boundary handling.</a:t>
            </a:r>
          </a:p>
          <a:p>
            <a:pPr>
              <a:spcBef>
                <a:spcPts val="800"/>
              </a:spcBef>
              <a:defRPr sz="1050" b="1">
                <a:solidFill>
                  <a:srgbClr val="D97706"/>
                </a:solidFill>
                <a:latin typeface="Segoe UI"/>
              </a:defRPr>
            </a:pPr>
            <a:r>
              <a:t>Target Attack Categories Detected: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• 💥 Denial of Service (DoS/DDoS): SYN Flood, UDP Flood, Slowloris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• 🔍 Port Scanning &amp; Recon: SYN Scan, Null Scan, Service Sweeps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• 🔑 Brute-Force Infiltration: SSH, FTP, and RDP credential stuffing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• 🌐 Other Malicious Traffic: Unauthorized probes and shell exploitation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Benchmark Dataset: CIC-IDS2017 intrusion dataset evaluated on Precision, Recall, F1-Score, and ROC-AUC metrics.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2563EB"/>
                </a:solidFill>
                <a:latin typeface="Segoe UI"/>
              </a:defRPr>
            </a:pPr>
            <a:r>
              <a:t>05 / THREAT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Real-Time Traffic Interception &amp; Security Shield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Automated multi-variable threat triage isolating malicious flows from normal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2651760" cy="3886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INBOUND TRAFFIC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Heterogeneous network packets entering gateway boundary: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🟢 Web Request (HTTPS)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   Port 443 / Safe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🔴 SYN Flood Burst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   Spoofed IPs / 45k pps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🟢 API Data Sync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   Port 8080 / Safe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🔴 Port Scan Sweep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   Ports 20-1024 / Recon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🟢 SSH Admin Login</a:t>
            </a:r>
          </a:p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   Port 22 / Authorized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103120"/>
            <a:ext cx="3291840" cy="3886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🛡️  AI SENTINEL SHIELD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⚡ Real-Time Feature Extractor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Computes flow rates, byte volume, and duration in microsecond windows.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⚡ Random Forest Inference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Ensemble consensus classifies packets as Normal or Attack class.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⚡ Dynamic Risk Engine (0-100)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Synthesizes confidence, spike rate, and vulnerability severity.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⚡ Explainable Root Causes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Identifies specific anomaly triggers (e.g. 8400% connection rate surge).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103120"/>
            <a:ext cx="3657600" cy="1783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🟢  BENIGN TRAFFIC (PERMITTED)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Seamless routing to internal application servers</a:t>
            </a:r>
            <a:br/>
            <a:r>
              <a:t>• Whitelisted for continuous flow</a:t>
            </a:r>
            <a:br/>
            <a:r>
              <a:t>• Baseline behavioral profiles dynamically updated</a:t>
            </a:r>
            <a:br/>
            <a:r>
              <a:t>• Zero user friction or latency delay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160520"/>
            <a:ext cx="365760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050" b="1">
                <a:solidFill>
                  <a:srgbClr val="DC2626"/>
                </a:solidFill>
                <a:latin typeface="Segoe UI"/>
              </a:defRPr>
            </a:pPr>
            <a:r>
              <a:t>🔴  THREAT TRAFFIC (INTERCEPTED)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Packets isolated at network perimeter</a:t>
            </a:r>
            <a:br/>
            <a:r>
              <a:t>• Dynamic Risk Score computed (0–100)</a:t>
            </a:r>
            <a:br/>
            <a:r>
              <a:t>• Triggered XAI explanation dispatched to SOC</a:t>
            </a:r>
            <a:br/>
            <a:r>
              <a:t>• Automated IP isolation &amp; rate-limiting playbook executed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2563EB"/>
                </a:solidFill>
                <a:latin typeface="Segoe UI"/>
              </a:defRPr>
            </a:pPr>
            <a:r>
              <a:t>06 / SECURITY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Security Operations Center (SOC) Monitoring Dashboard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Live incident telemetry, risk severity prioritization, and explainable root-cause feeds.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2374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NETWORK STATUS</a:t>
            </a:r>
          </a:p>
          <a:p>
            <a:pPr>
              <a:spcBef>
                <a:spcPts val="200"/>
              </a:spcBef>
              <a:defRPr sz="1500" b="1">
                <a:solidFill>
                  <a:srgbClr val="059669"/>
                </a:solidFill>
                <a:latin typeface="Segoe UI"/>
              </a:defRPr>
            </a:pPr>
            <a:r>
              <a:t>PROTECTED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  <a:latin typeface="Segoe UI"/>
              </a:defRPr>
            </a:pPr>
            <a:r>
              <a:t>Active ML Firewall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783080"/>
            <a:ext cx="252374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TRAFFIC PROCESSED</a:t>
            </a:r>
          </a:p>
          <a:p>
            <a:pPr>
              <a:spcBef>
                <a:spcPts val="200"/>
              </a:spcBef>
              <a:defRPr sz="1500" b="1">
                <a:solidFill>
                  <a:srgbClr val="2563EB"/>
                </a:solidFill>
                <a:latin typeface="Segoe UI"/>
              </a:defRPr>
            </a:pPr>
            <a:r>
              <a:t>12.4K pkts/s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  <a:latin typeface="Segoe UI"/>
              </a:defRPr>
            </a:pPr>
            <a:r>
              <a:t>Live Telemetry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252374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THREATS DETECTED</a:t>
            </a:r>
          </a:p>
          <a:p>
            <a:pPr>
              <a:spcBef>
                <a:spcPts val="200"/>
              </a:spcBef>
              <a:defRPr sz="1500" b="1">
                <a:solidFill>
                  <a:srgbClr val="DC2626"/>
                </a:solidFill>
                <a:latin typeface="Segoe UI"/>
              </a:defRPr>
            </a:pPr>
            <a:r>
              <a:t>14 Events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  <a:latin typeface="Segoe UI"/>
              </a:defRPr>
            </a:pPr>
            <a:r>
              <a:t>Flagged in Last 1 Hour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783080"/>
            <a:ext cx="252374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CURRENT RISK LEVEL</a:t>
            </a:r>
          </a:p>
          <a:p>
            <a:pPr>
              <a:spcBef>
                <a:spcPts val="200"/>
              </a:spcBef>
              <a:defRPr sz="1500" b="1">
                <a:solidFill>
                  <a:srgbClr val="D97706"/>
                </a:solidFill>
                <a:latin typeface="Segoe UI"/>
              </a:defRPr>
            </a:pPr>
            <a:r>
              <a:t>CRITICAL (94)</a:t>
            </a:r>
          </a:p>
          <a:p>
            <a:pPr>
              <a:spcBef>
                <a:spcPts val="100"/>
              </a:spcBef>
              <a:defRPr sz="800">
                <a:solidFill>
                  <a:srgbClr val="94A3B8"/>
                </a:solidFill>
                <a:latin typeface="Segoe UI"/>
              </a:defRPr>
            </a:pPr>
            <a:r>
              <a:t>Dynamic Threat 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728655" cy="2057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>
              <a:defRPr sz="1150" b="1">
                <a:solidFill>
                  <a:srgbClr val="DC2626"/>
                </a:solidFill>
                <a:latin typeface="Segoe UI"/>
              </a:defRPr>
            </a:pPr>
            <a:r>
              <a:t>🚨  ACTIVE INTRUSION DETECTED — CRITICAL SECURITY INCIDENT  [ SIMULATED DEMO ]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Attack Type: SYN-Flood DDoS  |  Target Host: 10.0.4.18 (Web Cluster)  |  Source IP: 192.168.1.105 (Flagged)</a:t>
            </a:r>
          </a:p>
          <a:p>
            <a:pPr>
              <a:spcBef>
                <a:spcPts val="400"/>
              </a:spcBef>
              <a:defRPr sz="900" b="1">
                <a:solidFill>
                  <a:srgbClr val="D97706"/>
                </a:solidFill>
                <a:latin typeface="Segoe UI"/>
              </a:defRPr>
            </a:pPr>
            <a:r>
              <a:t>Dynamic Risk Score: 94 / 100 [CRITICAL RISK]  |  Model Confidence: 98.7% (Demo)  |  Status: ISOLATED</a:t>
            </a:r>
          </a:p>
          <a:p>
            <a:pPr>
              <a:spcBef>
                <a:spcPts val="500"/>
              </a:spcBef>
              <a:defRPr sz="880">
                <a:solidFill>
                  <a:srgbClr val="334155"/>
                </a:solidFill>
                <a:latin typeface="Segoe UI"/>
              </a:defRPr>
            </a:pPr>
            <a:r>
              <a:t>🔍 Explainable AI Root-Cause: Connection rate surged by 8,400% (45,000 pkts/s). 99.2% of packets contain incomplete TCP SYN handshakes targeting port 443 with randomized spoofed source 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4864" cy="2057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RECENT NETWORK SECURITY EVENT STREAM (SIMULATED DEMO)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🟢 [18:02:14] 10.0.1.25 ➔ 10.0.4.18 | HTTPS GET /api/v1/auth | Risk: 02/100 (Normal - Whitelisted)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🟡 [18:02:29] 192.168.1.88 ➔ 10.0.4.18 | Rapid Port Scan (Ports 20-1024) | Risk: 68/100 (Medium - Warning)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🔴 [18:02:45] 192.168.1.105 ➔ 10.0.4.18 | Distributed SYN Flood Inflow | Risk: 94/100 (Critical - Blocked)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2563EB"/>
                </a:solidFill>
                <a:latin typeface="Segoe UI"/>
              </a:defRPr>
            </a:pPr>
            <a:r>
              <a:t>07 /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Modern &amp; Scalable Implementation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Production-ready machine learning, asynchronous backend APIs, and reactive frontend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2374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50" b="1">
                <a:solidFill>
                  <a:srgbClr val="2563EB"/>
                </a:solidFill>
                <a:latin typeface="Segoe UI"/>
              </a:defRPr>
            </a:pPr>
            <a:r>
              <a:t>🧠  AI &amp; Machine Learning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Python 3.11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Primary execution language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Scikit-Learn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Random Forest classifier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Pandas &amp; NumPy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Feature vector manipulation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Joblib / Pickle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Model serialization engine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SHAP / Explainers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XAI feature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2157984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65576" y="1783080"/>
            <a:ext cx="252374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50" b="1">
                <a:solidFill>
                  <a:srgbClr val="0D9488"/>
                </a:solidFill>
                <a:latin typeface="Segoe UI"/>
              </a:defRPr>
            </a:pPr>
            <a:r>
              <a:t>📦  Data &amp; Telemetry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CIC-IDS2017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Standardized benchmark dataset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Scapy / PyShark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Packet capture &amp; dissection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StandardScaler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Dynamic feature normalization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PCAP Parser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Network flow reconstruction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CSV/Parquet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High-efficiency flow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1783080"/>
            <a:ext cx="2157984" cy="3657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9632" y="1783080"/>
            <a:ext cx="252374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⚡  Backend &amp; Services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FastAPI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High-concurrency async REST API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WebSockets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Live telemetry event streaming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Uvicorn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Production ASGI web server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Risk Scoring Core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Real-time 0-100 score engine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Asyncio Workers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Background packet processors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783080"/>
            <a:ext cx="2157984" cy="3657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33688" y="1783080"/>
            <a:ext cx="252374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50" b="1">
                <a:solidFill>
                  <a:srgbClr val="7C3AED"/>
                </a:solidFill>
                <a:latin typeface="Segoe UI"/>
              </a:defRPr>
            </a:pPr>
            <a:r>
              <a:t>🖥️  Frontend &amp; UI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React.js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Component-based reactive UI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Tailwind CSS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Modern clean styling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Chart.js / Recharts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Live traffic &amp; metric graphs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Lucide Icons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SOC status &amp; threat iconography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REST Client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   Bi-directional telemetry polling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16568" y="1783080"/>
            <a:ext cx="2157984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0D9488"/>
                </a:solidFill>
                <a:latin typeface="Segoe UI"/>
              </a:defRPr>
            </a:pPr>
            <a:r>
              <a:t>08 / 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Real-World Impact &amp; UN SDG 16 Alignment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Strengthening institutional cybersecurity resilience and protecting digital public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🌍  UN SDG 16: Peace, Justice &amp; Strong Institutions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✔ Protecting Critical Digital Infrastructure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Safeguards essential civic, enterprise, and educational institutions from disruptive cyberattacks and data extortion (Targets 16.6 &amp; 16.10).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✔ Transparent &amp; Explainable Security Governance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Promotes trustworthy AI systems by providing clear explanations and accountable audit trails for security decisions.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✔ Democratizing Advanced Threat Defense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Provides robust, automated threat detection capabilities that smaller institutions can deploy without requiring large SOC teams.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✔ Eliminating Alert Fatigue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Prioritizes genuine incidents, allowing security personnel to focus on mitigating actual threats rather than chasing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33369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🏢  Target Deployment Sectors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🛡️ Enterprises &amp; Data Centers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Boundary intrusion detection and internal lateral movement monitoring across server clusters.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🛡️ Educational &amp; Academic Campuses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Protecting university networks, student records, and intellectual property from scanning and unauthorized logins.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🛡️ Cloud &amp; SaaS Infrastructure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Real-time monitoring of multi-tenant API endpoints, detecting abnormal traffic spikes and automated scraping.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🛡️ IoT &amp; Smart Edge Gateways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Lightweight inference deployed on edge gateways to safeguard industrial control and connected smart devices.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10896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l">
              <a:defRPr sz="850" b="1">
                <a:solidFill>
                  <a:srgbClr val="2563EB"/>
                </a:solidFill>
                <a:latin typeface="Segoe UI"/>
              </a:defRPr>
            </a:pPr>
            <a:r>
              <a:t>09 /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Roadmap &amp; Strategic Conclusion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Advancing from reactive detection to autonomous, self-healing network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🚀  FUTURE TECHNICAL ROADMAP &amp; EXPANSION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242316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Phase 1: Live Inline IPS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Kernel-level eBPF/iptables automated packet blocking.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42316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Phase 2: Graph Neural Networks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GNN topology modeling for complex lateral movement.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242316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Phase 3: Encrypted Traffic AI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Metadata-based TLS/HTTPS anomaly detection without SSL decryption.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148840"/>
            <a:ext cx="242316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Phase 4: SIEM/SOAR Connectors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Turnkey webhooks for Splunk, Microsoft Sentinel &amp; Elastic.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72865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“Detect threats earlier. Understand attacks faster. Build safer networks with AI.”</a:t>
            </a:r>
          </a:p>
          <a:p>
            <a:pPr algn="ctr">
              <a:spcBef>
                <a:spcPts val="6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AI Sentinel demonstrates that machine learning combined with dynamic risk scoring and explainable insights creates an adaptive, resilient barrier against modern cyber threats.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Kushal Vinayak Maddi (VTU27566)  |  Patibandla Manoj Kumar (VTU27626)  |  Shaik Aman Sohail (VTU27551)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1963</Words>
  <Application>Microsoft Office PowerPoint</Application>
  <PresentationFormat>Widescreen</PresentationFormat>
  <Paragraphs>270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Vinayaka Maddi</cp:lastModifiedBy>
  <cp:revision>4</cp:revision>
  <dcterms:created xsi:type="dcterms:W3CDTF">2013-01-27T09:14:16Z</dcterms:created>
  <dcterms:modified xsi:type="dcterms:W3CDTF">2026-08-27T04:53:46Z</dcterms:modified>
  <cp:category/>
</cp:coreProperties>
</file>